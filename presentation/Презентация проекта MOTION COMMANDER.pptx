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Space Grotesk"/>
      <ns0:bold ns1:id="rIdFont13"/>
    </ns0:embeddedFon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30e623aa-a35e-4f44-9c34-af8c505fe9dc.fntdata" /><ns0:Relationship Id="rIdFont14" Type="http://schemas.openxmlformats.org/officeDocument/2006/relationships/font" Target="fonts/97fdda3c-aee0-45a6-9958-7b4d3e1dd28c.fntdata" /><ns0:Relationship Id="rIdFont15" Type="http://schemas.openxmlformats.org/officeDocument/2006/relationships/font" Target="fonts/b99a3f13-2f00-4603-927f-f19ccb8dab6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49055"/>
            <a:ext cx="2466975" cy="419100"/>
          </a:xfrm>
          <a:prstGeom prst="roundRect">
            <a:avLst>
              <a:gd name="adj" fmla="val 18181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05175" y="4349055"/>
            <a:ext cx="2171700" cy="419100"/>
          </a:xfrm>
          <a:prstGeom prst="roundRect">
            <a:avLst>
              <a:gd name="adj" fmla="val 18181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472880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675" y="4472880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508944"/>
            <a:ext cx="115824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b="1" sz="4500" i="0" u="none">
                <a:solidFill>
                  <a:srgbClr val="FFFFFF"/>
                </a:solidFill>
                <a:latin typeface="Space Grotesk"/>
              </a:rPr>
              <a:t>MOTION COMMANDER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28094"/>
            <a:ext cx="7334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NEON FRONTIER — динамичный экшен с управлением в реальном времени через обычную веб-камеру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89844"/>
            <a:ext cx="4607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B6D4"/>
                </a:solidFill>
                <a:latin typeface="Inter"/>
              </a:rPr>
              <a:t>ИННОВАЦИОННЫЙ БРАУЗЕРНЫЙ ГЕЙМИНГ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4463355"/>
            <a:ext cx="2250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Inter"/>
              </a:rPr>
              <a:t>Без спец-оборудования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1425" y="4463355"/>
            <a:ext cx="1881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Inter"/>
              </a:rPr>
              <a:t>MediaPipe Vision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5042"/>
            <a:ext cx="5334000" cy="220980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5042"/>
            <a:ext cx="5334000" cy="220980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067942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306794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7" y="3191767"/>
            <a:ext cx="23812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412" y="3191767"/>
            <a:ext cx="18097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КОНЦЕПЦИЯ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85825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Управление без геймпадов и клавиатуры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677542"/>
            <a:ext cx="61007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Компьютерное зрение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77592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Мгновенная локальная обработка видеопотока веб-камеры прямо в браузере.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677542"/>
            <a:ext cx="5600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Низкая задержка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4077592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Плавный игровой процесс со скоростью до 60 кадров в секунду.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6005"/>
            <a:ext cx="2600325" cy="2009775"/>
          </a:xfrm>
          <a:prstGeom prst="roundRect">
            <a:avLst>
              <a:gd name="adj" fmla="val 66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06005"/>
            <a:ext cx="2600325" cy="2009775"/>
          </a:xfrm>
          <a:prstGeom prst="roundRect">
            <a:avLst>
              <a:gd name="adj" fmla="val 66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06005"/>
            <a:ext cx="2600325" cy="2009775"/>
          </a:xfrm>
          <a:prstGeom prst="roundRect">
            <a:avLst>
              <a:gd name="adj" fmla="val 66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06005"/>
            <a:ext cx="2600325" cy="2009775"/>
          </a:xfrm>
          <a:prstGeom prst="roundRect">
            <a:avLst>
              <a:gd name="adj" fmla="val 66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72705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07270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0" y="307270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675" y="307270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187005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850" y="3187005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18700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8787" y="3187005"/>
            <a:ext cx="1428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МЕХАНИКА ГЕЙМПЛЕЯ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85825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Система игровых жестов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06105"/>
            <a:ext cx="281285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Навигация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949005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Позиционирование ладони определяет движение персонажа.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606105"/>
            <a:ext cx="281285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Атака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3949005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Сжатие в кулак наносит импульсный удар по врагу.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606105"/>
            <a:ext cx="281285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Защита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949005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Раскрытая ладонь активирует энергетический щит.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606105"/>
            <a:ext cx="281285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Супер-удар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949005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Поднятый указательный палец запускает волну Nova.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46564" y="2710755"/>
            <a:ext cx="5735835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46564" y="3825180"/>
            <a:ext cx="5735835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164" y="305841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164" y="4272855"/>
            <a:ext cx="2857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ИНТЕРАКТИВНАЯ АДАПТАЦИЯ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85825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Режим обработки ошибок (Error Mode)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63192"/>
            <a:ext cx="5974705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b="1" sz="7800" i="0" u="none">
                <a:solidFill>
                  <a:srgbClr val="0F172A"/>
                </a:solidFill>
                <a:latin typeface="Space Grotes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68092"/>
            <a:ext cx="59747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3D-точечный трекинг кисти рук в кадру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6164" y="2939355"/>
            <a:ext cx="5735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Умные подсказки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6164" y="3206055"/>
            <a:ext cx="5735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Вывод конкретных рекомендаций при нечетком жесте.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3314" y="4053780"/>
            <a:ext cx="567868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Контроль видимости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3314" y="4320480"/>
            <a:ext cx="493573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Мгновенное оповещение при выходе руки из зоны веб-камеры.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0792"/>
            <a:ext cx="2421731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9956" y="3010792"/>
            <a:ext cx="2421731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0312" y="3010792"/>
            <a:ext cx="2421731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0668" y="3010792"/>
            <a:ext cx="2421731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31" y="3734692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734692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734692"/>
            <a:ext cx="1238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ТЕХНОЛОГИЧЕСКИЙ СТЕК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85825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Архитектурный конвейер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239392"/>
            <a:ext cx="255091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ЭТАП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496567"/>
            <a:ext cx="267845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Видеопоток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820417"/>
            <a:ext cx="21359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Получение кадров с веб-камеры устройства.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0456" y="3239392"/>
            <a:ext cx="255091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ЭТАП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0456" y="3496567"/>
            <a:ext cx="267845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MediaPipe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0456" y="3820417"/>
            <a:ext cx="21359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Выделение 21 ключевой точки кисти руки.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812" y="3239392"/>
            <a:ext cx="255091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ЭТАП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812" y="3496567"/>
            <a:ext cx="267845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Движок жестов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812" y="3820417"/>
            <a:ext cx="21359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Классификация движения и проверка ошибок.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1168" y="3239392"/>
            <a:ext cx="255091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ЭТАП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1168" y="3496567"/>
            <a:ext cx="267845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Canvas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168" y="3820417"/>
            <a:ext cx="2135981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Отрисовка игровых объектов и спецэффектов.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76662" y="4193827"/>
            <a:ext cx="4638675" cy="552450"/>
          </a:xfrm>
          <a:prstGeom prst="roundRect">
            <a:avLst>
              <a:gd name="adj" fmla="val 20689"/>
            </a:avLst>
          </a:prstGeom>
          <a:solidFill>
            <a:srgbClr val="1D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6546" y="2111722"/>
            <a:ext cx="2678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6B6D4"/>
                </a:solidFill>
                <a:latin typeface="Inter"/>
              </a:rPr>
              <a:t>ЖИВАЯ 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71546" y="2454622"/>
            <a:ext cx="724875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Проект готов к проверке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64247"/>
            <a:ext cx="76200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Запущено и доступно онлайн без установки дополнительных зависимостей.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1628" y="4346227"/>
            <a:ext cx="518874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6B6D4"/>
                </a:solidFill>
                <a:latin typeface="Inter"/>
              </a:rPr>
              <a:t>https://motion-commander-max.vercel.app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